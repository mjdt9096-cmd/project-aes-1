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9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A168490-9CFB-C92F-50AC-5882FD34A6A8}">
          <p14:sldIdLst>
            <p14:sldId id="256"/>
            <p14:sldId id="257"/>
          </p14:sldIdLst>
        </p14:section>
        <p14:section name="Problem and data" id="{137255D9-5920-C3C6-BDC3-439546271329}">
          <p14:sldIdLst>
            <p14:sldId id="258"/>
            <p14:sldId id="259"/>
            <p14:sldId id="260"/>
            <p14:sldId id="261"/>
          </p14:sldIdLst>
        </p14:section>
        <p14:section name="Framing card" id="{6F0B6684-5B32-C25E-FB4A-83B3BA1E1B65}">
          <p14:sldIdLst>
            <p14:sldId id="262"/>
          </p14:sldIdLst>
        </p14:section>
        <p14:section name="Reference studies and gap" id="{ECC42380-AD04-93C4-E852-C550F222E96B}">
          <p14:sldIdLst>
            <p14:sldId id="263"/>
            <p14:sldId id="264"/>
          </p14:sldIdLst>
        </p14:section>
        <p14:section name="Methodology, tools and plan" id="{DF5D5AD8-387B-4B3E-076C-8FACD8019F9F}">
          <p14:sldIdLst>
            <p14:sldId id="266"/>
            <p14:sldId id="267"/>
          </p14:sldIdLst>
        </p14:section>
        <p14:section name="Closing" id="{73E17550-3715-B881-AEC3-CE0F09C70CFA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8" autoAdjust="0"/>
    <p:restoredTop sz="94610"/>
  </p:normalViewPr>
  <p:slideViewPr>
    <p:cSldViewPr snapToGrid="0" snapToObjects="1">
      <p:cViewPr>
        <p:scale>
          <a:sx n="92" d="100"/>
          <a:sy n="92" d="100"/>
        </p:scale>
        <p:origin x="197" y="-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Explanatory</c:v>
                </c:pt>
              </c:strCache>
            </c:strRef>
          </c:tx>
          <c:spPr>
            <a:solidFill>
              <a:srgbClr val="1B2A5E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P1 Sports</c:v>
                </c:pt>
                <c:pt idx="1">
                  <c:v>P2 Social media</c:v>
                </c:pt>
                <c:pt idx="2">
                  <c:v>P3 Technology</c:v>
                </c:pt>
                <c:pt idx="3">
                  <c:v>P4 Communication</c:v>
                </c:pt>
                <c:pt idx="4">
                  <c:v>P5 Heritage</c:v>
                </c:pt>
                <c:pt idx="5">
                  <c:v>P6 Homework</c:v>
                </c:pt>
                <c:pt idx="6">
                  <c:v>P7 Late nights</c:v>
                </c:pt>
                <c:pt idx="7">
                  <c:v>P8 Video games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1122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1181</c:v>
                </c:pt>
                <c:pt idx="5">
                  <c:v>0</c:v>
                </c:pt>
                <c:pt idx="6">
                  <c:v>1143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FD-445B-9E01-DE24055941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Persuasive</c:v>
                </c:pt>
              </c:strCache>
            </c:strRef>
          </c:tx>
          <c:spPr>
            <a:solidFill>
              <a:srgbClr val="5B7DB1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P1 Sports</c:v>
                </c:pt>
                <c:pt idx="1">
                  <c:v>P2 Social media</c:v>
                </c:pt>
                <c:pt idx="2">
                  <c:v>P3 Technology</c:v>
                </c:pt>
                <c:pt idx="3">
                  <c:v>P4 Communication</c:v>
                </c:pt>
                <c:pt idx="4">
                  <c:v>P5 Heritage</c:v>
                </c:pt>
                <c:pt idx="5">
                  <c:v>P6 Homework</c:v>
                </c:pt>
                <c:pt idx="6">
                  <c:v>P7 Late nights</c:v>
                </c:pt>
                <c:pt idx="7">
                  <c:v>P8 Video games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1168</c:v>
                </c:pt>
                <c:pt idx="2">
                  <c:v>521</c:v>
                </c:pt>
                <c:pt idx="3">
                  <c:v>500</c:v>
                </c:pt>
                <c:pt idx="4">
                  <c:v>0</c:v>
                </c:pt>
                <c:pt idx="5">
                  <c:v>1162</c:v>
                </c:pt>
                <c:pt idx="6">
                  <c:v>0</c:v>
                </c:pt>
                <c:pt idx="7">
                  <c:v>1062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FD-445B-9E01-DE2405594175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0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F2430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0068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everyone. This is Seminar 1 of the project “Arabic Automated Essay Scoring”, supervised by Dr. Majeda Al-Bakkour and Eng. Wesam Alsohle.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talk has eight parts: problem and objectives, the LAILA dataset, the framing card, the comparison of reference studies and the gap, then methodology, tools and the work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grading is inconsistent even among trained raters, and current Arabic systems give a score with no explanation. In this LAILA example the student only sees 24 out of 32; the proposed system gives every trait score with a comment grounded in the essay.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objectives are measurable: 0.62 on unseen prompts, above MOOSE and the ETS limit; 0.50 for REL; and 90% correct comments. Each research question maps to one part of the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LAILA is the largest publicly available Arabic essay-scoring dataset: 7,859 essays from 4,372 students, collected with ethics approval. P3 and P4 are smaller, which makes per-prompt results less 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essay was scored by two independent raters, and 15.7% needed a supervisor. Human agreement per trait is 0.67–0.77, which is the realistic ceiling. 86% of essays have REL = 2, so off-topic cases are rare but the costliest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framing card. The highlighted rows answer the three required points: the approach is a trained hybrid scorer, with an agent that only explains the score; we compare with the official LAILA results, led by MOOSE at 0.597 on unseen prompts; and success means a mean of 0.62 and REL of 0.50 on unseen prompts, with 90% correct comments.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compared nine studies on the requested attributes. Here: most systems use AraBERT or CAMeLBERT with handcrafted features, and AESER is the latest study on REL in LAILA. None uses retrieval, which the project adds in the feedback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part: the best unseen-prompt result is TRATES at 0.653, but it needs 30 seconds per essay; AESER raises REL to 0.517 but scores only that trait; untrained LLMs are clearly weaker; and no Arabic study evaluates text-grounded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phases: a hybrid model gives scores and a confidence measure; an agent explains them using three tools: rubric level retrieval, evidence retrieval from the essay, and error detection. The verifier blocks any comment without a literal quote, and critical cases go to the teacher.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required tools; all are open source. Training runs on Colab Pro, testing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references; the numbers match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I welcome your questions and comments.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d9a40b3f-3357-5640-8175-ce21e2ef6209/scratchpad/pptx/sp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292608"/>
            <a:ext cx="1024128" cy="6894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0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Syrian Private University · Faculty of AI Engineering · Seminar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2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2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10" Type="http://schemas.openxmlformats.org/officeDocument/2006/relationships/image" Target="../media/image14.png"/><Relationship Id="rId4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135728" y="54864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tmp/claude-0/-home-claude/d9a40b3f-3357-5640-8175-ce21e2ef6209/scratchpad/pptx/s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888" y="658368"/>
            <a:ext cx="1645920" cy="110642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31520" y="214884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of Artificial Intelligence Engineering · Department of AI and Intelligent Data Science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2606040"/>
            <a:ext cx="107286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Automated Essay Scoring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347472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Y" alt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تقييم المقالات العربية الآلي</a:t>
            </a:r>
            <a:endParaRPr lang="ar-SY" sz="2200" dirty="0"/>
          </a:p>
        </p:txBody>
      </p:sp>
      <p:sp>
        <p:nvSpPr>
          <p:cNvPr id="8" name="Shape 4"/>
          <p:cNvSpPr/>
          <p:nvPr/>
        </p:nvSpPr>
        <p:spPr>
          <a:xfrm>
            <a:off x="4907128" y="41148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B5202A"/>
          </a:solidFill>
          <a:ln w="12700">
            <a:solidFill>
              <a:srgbClr val="B5202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907128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 1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498348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Student: Majd Samer Othman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539496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Supervisors: Dr. Majeda Al-Bakkour · Eng. Wesam Alsohle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30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822960" y="1600200"/>
            <a:ext cx="566928" cy="566928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6002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and objectives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22960" y="2697480"/>
            <a:ext cx="566928" cy="566928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6974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LAILA dataset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22960" y="3794760"/>
            <a:ext cx="566928" cy="566928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379476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 card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22960" y="4892040"/>
            <a:ext cx="566928" cy="566928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892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48920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of reference studies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400800" y="1600200"/>
            <a:ext cx="566928" cy="566928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7178040" y="16002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results and research gap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400800" y="2697480"/>
            <a:ext cx="566928" cy="566928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7178040" y="26974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Adopted methodology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6400800" y="3794760"/>
            <a:ext cx="566928" cy="566928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0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178040" y="379476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tools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6400800" y="4892040"/>
            <a:ext cx="566928" cy="566928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0" y="4892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7178040" y="48920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plan</a:t>
            </a:r>
            <a:endParaRPr lang="en-US" sz="20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2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30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03504" cy="603504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81" y="1562161"/>
            <a:ext cx="313822" cy="31382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71600" y="139903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grading is slow and inconsistent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1371600" y="1801368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trained raters agree at QWK 0.66–0.75, depending on the prompt [2]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48640" y="2606040"/>
            <a:ext cx="603504" cy="603504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81" y="2750881"/>
            <a:ext cx="313822" cy="31382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71600" y="258775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Arabic systems do not explain the score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1371600" y="2990088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Qayyem: trait scores, no feedback [3] · ARWI: errors and an overall level, no trait scores [10]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48640" y="3794760"/>
            <a:ext cx="603504" cy="603504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81" y="3939601"/>
            <a:ext cx="313822" cy="31382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71600" y="377647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alone is weaker than a trained model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1371600" y="4178808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LAILA, Fanar with 5 examples averages 0.575 vs 0.740 for a fine-tuned AraBERT [1]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5120640"/>
            <a:ext cx="6400800" cy="777240"/>
          </a:xfrm>
          <a:prstGeom prst="roundRect">
            <a:avLst>
              <a:gd name="adj" fmla="val 9412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777240" y="51206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Needed: a reliable score for each trait, explained with the essay’s own text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7406640" y="1417320"/>
            <a:ext cx="4233672" cy="1600200"/>
          </a:xfrm>
          <a:prstGeom prst="roundRect">
            <a:avLst>
              <a:gd name="adj" fmla="val 45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7635240" y="1536192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300" b="1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student gets today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7635240" y="1874520"/>
            <a:ext cx="3776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32</a:t>
            </a:r>
            <a:endParaRPr lang="en-US" sz="4000" dirty="0"/>
          </a:p>
        </p:txBody>
      </p:sp>
      <p:sp>
        <p:nvSpPr>
          <p:cNvPr id="21" name="Text 15"/>
          <p:cNvSpPr txBox="1"/>
          <p:nvPr/>
        </p:nvSpPr>
        <p:spPr>
          <a:xfrm>
            <a:off x="7635240" y="2606040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1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Holistic score only · LAILA essay no. 011087, prompt 1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406640" y="3200400"/>
            <a:ext cx="4233672" cy="2697480"/>
          </a:xfrm>
          <a:prstGeom prst="roundRect">
            <a:avLst>
              <a:gd name="adj" fmla="val 2712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7635240" y="3319272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3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proposed system gives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7635240" y="3749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Relevance: </a:t>
            </a:r>
            <a:r>
              <a:rPr lang="en-US" altLang="en-US" sz="125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9555480" y="3749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Organization: </a:t>
            </a:r>
            <a:r>
              <a:rPr lang="en-US" altLang="en-US" sz="125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4/5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7635240" y="40965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Vocabulary: </a:t>
            </a:r>
            <a:r>
              <a:rPr lang="en-US" altLang="en-US" sz="125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4/5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9555480" y="40965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Style: </a:t>
            </a:r>
            <a:r>
              <a:rPr lang="en-US" altLang="en-US" sz="125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4/5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7635240" y="44439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Development: </a:t>
            </a:r>
            <a:r>
              <a:rPr lang="en-US" altLang="en-US" sz="125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4/5</a:t>
            </a:r>
            <a:endParaRPr lang="en-US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9555480" y="44439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Mechanics: </a:t>
            </a:r>
            <a:r>
              <a:rPr lang="en-US" altLang="en-US" sz="125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3/5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7635240" y="47914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Grammar: </a:t>
            </a:r>
            <a:r>
              <a:rPr lang="en-US" altLang="en-US" sz="125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3/5</a:t>
            </a:r>
            <a:endParaRPr lang="en-US" sz="1250" dirty="0"/>
          </a:p>
        </p:txBody>
      </p:sp>
      <p:sp>
        <p:nvSpPr>
          <p:cNvPr id="31" name="Text 25"/>
          <p:cNvSpPr txBox="1"/>
          <p:nvPr/>
        </p:nvSpPr>
        <p:spPr>
          <a:xfrm>
            <a:off x="7635240" y="5257800"/>
            <a:ext cx="3776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2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one comment per trait: quote → reason → advice</a:t>
            </a:r>
            <a:endParaRPr lang="en-US" sz="12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2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30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and Research Questions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37160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objective: </a:t>
            </a:r>
            <a:r>
              <a:rPr lang="en-US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system that scores an Arabic essay on seven traits and gives, for each trait, a comment backed by a quote from the essay.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423160"/>
            <a:ext cx="353872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560320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0.62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4612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QWK (traits + holistic) on unseen prompts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813048"/>
            <a:ext cx="2990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official model, MOOSE: 0.597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25112" y="2423160"/>
            <a:ext cx="353872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99432" y="2560320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0.50</a:t>
            </a:r>
            <a:endParaRPr lang="en-US" sz="3800" dirty="0"/>
          </a:p>
        </p:txBody>
      </p:sp>
      <p:sp>
        <p:nvSpPr>
          <p:cNvPr id="12" name="Text 9"/>
          <p:cNvSpPr txBox="1"/>
          <p:nvPr/>
        </p:nvSpPr>
        <p:spPr>
          <a:xfrm>
            <a:off x="4599432" y="324612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 (REL) on unseen prompts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599432" y="3813048"/>
            <a:ext cx="2990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official model, MOOSE: 0.411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101584" y="2423160"/>
            <a:ext cx="353872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75904" y="2560320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</a:t>
            </a:r>
            <a:endParaRPr lang="en-US" sz="3800" dirty="0"/>
          </a:p>
        </p:txBody>
      </p:sp>
      <p:sp>
        <p:nvSpPr>
          <p:cNvPr id="16" name="Text 13"/>
          <p:cNvSpPr txBox="1"/>
          <p:nvPr/>
        </p:nvSpPr>
        <p:spPr>
          <a:xfrm>
            <a:off x="8375904" y="324612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 judged correct by two raters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375904" y="3813048"/>
            <a:ext cx="2990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100% literal quotes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7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questions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919472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450" b="1" dirty="0">
                <a:solidFill>
                  <a:srgbClr val="B5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  </a:t>
            </a:r>
            <a:r>
              <a:rPr lang="en-US" altLang="en-US" sz="14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hybrid model (features + CAMeLBERT) beat MOOSE and the other official LAILA baselines?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34924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450" b="1" dirty="0">
                <a:solidFill>
                  <a:srgbClr val="B5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  </a:t>
            </a:r>
            <a:r>
              <a:rPr lang="en-US" altLang="en-US" sz="14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features that compare the essay to its prompt improve REL on unseen prompts?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77900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450" b="1" dirty="0">
                <a:solidFill>
                  <a:srgbClr val="B5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  </a:t>
            </a:r>
            <a:r>
              <a:rPr lang="en-US" altLang="en-US" sz="14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verifier reduce unsupported comments compared with direct generation?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2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30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LAILA Dataset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7,859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288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15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essays scored on 7 traits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362249" y="13258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45129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4,372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3545129" y="18288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15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from 24 high schools in Qatar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75858" y="13258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58738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358738" y="18288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15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prompts: 5 persuasive, 3 explanatory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989466" y="13258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72346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9172346" y="18288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15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on average (max 706)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246888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Essays per prompt</a:t>
            </a:r>
            <a:endParaRPr lang="en-US" sz="14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48640" y="2788920"/>
          <a:ext cx="69494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4"/>
          <p:cNvSpPr/>
          <p:nvPr/>
        </p:nvSpPr>
        <p:spPr>
          <a:xfrm>
            <a:off x="7772400" y="2468880"/>
            <a:ext cx="3867912" cy="3429000"/>
          </a:xfrm>
          <a:prstGeom prst="roundRect">
            <a:avLst>
              <a:gd name="adj" fmla="val 2133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973568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data was collected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7973568" y="3017520"/>
            <a:ext cx="34747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alt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 10–12 in public schools, split evenly between boys’ and girls’ schools</a:t>
            </a:r>
            <a:endParaRPr lang="en-US" sz="125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alt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in a Microsoft Form within 65 minutes, under supervision</a:t>
            </a:r>
            <a:endParaRPr lang="en-US" sz="125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alt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Essays of 10 words or fewer and personal data removed; learner errors kept as written</a:t>
            </a:r>
            <a:endParaRPr lang="en-US" sz="125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alt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by a research ethics board (QU-IRB 159/2024-EA)</a:t>
            </a:r>
            <a:endParaRPr lang="en-US" sz="125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alt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research and education only; no high-stakes decisions about students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05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[1]. P3 and P4 are smaller than the rest, so results are computed on all test predictions pooled.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2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30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Details: Traits, Scoring and Splits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537960" cy="406908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measures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 QWK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300" b="1" dirty="0">
                          <a:solidFill>
                            <a:srgbClr val="B52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Relevance (REL)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300" b="1" dirty="0">
                          <a:solidFill>
                            <a:srgbClr val="B52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300" b="1" dirty="0">
                          <a:solidFill>
                            <a:srgbClr val="B52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Answers the given prompt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300" b="1" dirty="0">
                          <a:solidFill>
                            <a:srgbClr val="B52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3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Organization (ORG)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3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3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Essay structure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3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3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Vocabulary (VOC)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3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3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 and precision of words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3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3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Style (STY)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3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3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Cohesion and discourse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3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3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(DEV)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3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3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Ideas and their support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3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3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Mechanics (MEC)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3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3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Spelling and punctuation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3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3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Grammar (GRA)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3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3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Correct, varied syntax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3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30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Holistic (HOL)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30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0–32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30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 of the seven traits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30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7315200" y="1325880"/>
            <a:ext cx="4325112" cy="1691640"/>
          </a:xfrm>
          <a:prstGeom prst="roundRect">
            <a:avLst>
              <a:gd name="adj" fmla="val 4324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516368" y="1417320"/>
            <a:ext cx="3922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scoring</a:t>
            </a:r>
            <a:endParaRPr lang="en-US" sz="1500" dirty="0"/>
          </a:p>
        </p:txBody>
      </p:sp>
      <p:sp>
        <p:nvSpPr>
          <p:cNvPr id="2" name="Text 3"/>
          <p:cNvSpPr txBox="1"/>
          <p:nvPr/>
        </p:nvSpPr>
        <p:spPr>
          <a:xfrm>
            <a:off x="7516368" y="1783080"/>
            <a:ext cx="39227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alt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raters; if holistic scores differ by 6 or more, a supervisor decides (15.7% of essays)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alt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REL = 0, every other trait is set to 0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7315200" y="3154680"/>
            <a:ext cx="432511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B5202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452360" y="3154680"/>
            <a:ext cx="1325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5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8869680" y="3154680"/>
            <a:ext cx="25877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essays have REL = 2, so scores of 0 and 1 are rare, but errors on them are costly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315200" y="4434840"/>
            <a:ext cx="4325112" cy="1417320"/>
          </a:xfrm>
          <a:prstGeom prst="roundRect">
            <a:avLst>
              <a:gd name="adj" fmla="val 5161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516368" y="4526280"/>
            <a:ext cx="3922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splits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516368" y="4892040"/>
            <a:ext cx="3922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alt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PS: 5 folds per prompt (70% train, 10% dev, 20% test)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alt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CP: 8 folds: 5 training prompts, 2 dev, 1 test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05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QWK: agreement between two raters before adjudication, averaged over the 8 prompts. Sources: [1][2]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2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30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 Card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11091672" cy="621792"/>
          </a:xfrm>
          <a:prstGeom prst="roundRect">
            <a:avLst>
              <a:gd name="adj" fmla="val 11765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280160"/>
            <a:ext cx="10634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r>
              <a:rPr lang="en-US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essay + prompt text → 7 trait scores and evidence-grounded feedback, for classroom use with the teacher in the loop.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3877056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Justification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20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 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2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Multi-output ordinal regression (7 traits + holistic), then feedback generation grounded in the essay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2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Scores are ordered and the holistic is their sum; the comment explains the score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200" b="1" dirty="0">
                          <a:solidFill>
                            <a:srgbClr val="B52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2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trained hybrid scorer (linguistic + relevance features + CAMeLBERT) gives the score; an agent only explains it, with a literal quote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2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trained model beats an LLM alone: 0.740 vs 0.575 on seen prompts [1]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200" b="1" dirty="0">
                          <a:solidFill>
                            <a:srgbClr val="B52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we compare with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2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LAILA results, led by MOOSE on unseen prompts: mean 0.597, REL 0.411. Floor: word count. Upper reference: TRATES (0.653)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2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Published on the same data and splits [1][3]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200" b="1" dirty="0">
                          <a:solidFill>
                            <a:srgbClr val="B52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 threshold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2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Unseen prompts: mean QWK ≥ 0.62 and REL ≥ 0.50; feedback comments ≥ 90% correct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2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 is above the ETS limit (0.705 − 0.10 = 0.605) [12] and above MOOSE (0.597)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20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setting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2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Main: unseen prompt (CP, 8 folds); secondary: PS (5 folds); official splits; 160 essays to evaluate feedback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2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Teachers write new prompts the model has never seen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20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Costliest error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2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false “off-topic” (REL = 0), and flagging a correct sentence as wrong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2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first zeroes every trait, so the teacher sees it first; the second teaches a wrong rule (F0.5) [13]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6053328"/>
            <a:ext cx="201168" cy="182880"/>
          </a:xfrm>
          <a:prstGeom prst="rect">
            <a:avLst/>
          </a:prstGeom>
          <a:solidFill>
            <a:srgbClr val="FBEDEE"/>
          </a:solidFill>
          <a:ln w="9525">
            <a:solidFill>
              <a:srgbClr val="B5202A"/>
            </a:solidFill>
            <a:prstDash val="solid"/>
          </a:ln>
        </p:spPr>
      </p:sp>
      <p:sp>
        <p:nvSpPr>
          <p:cNvPr id="2" name="Text 4"/>
          <p:cNvSpPr txBox="1"/>
          <p:nvPr/>
        </p:nvSpPr>
        <p:spPr>
          <a:xfrm>
            <a:off x="868680" y="6016752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1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Highlighted rows: the approach, the model we compare with, and the success threshold.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2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30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of Reference Studies (1/2)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4645152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48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2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LAILA [1]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Essay + prompt; rubric and 5 examples for LLMs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traits + holistic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AraBERT, AraT5 and 816 handcrafted features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B52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LAILA: 7,859 essays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Qayyem / TRATES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[3][4]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Essay + prompt + rubric per trait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traits + holistic, editable by the teacher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Fanar-9B rubric answers + features; MOOSE: AraBERT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B52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LAILA, unseen prompts (TRATES first on ASAP)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MAPLE [5]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Essay + prompt + rubric + features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 level per trait + holistic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AraBERTv2 with a fusion gate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B52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None; random support examples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LAILA, ELLIPSE, ASAP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AESER [16]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Essay + prompt + LLM text per relevance level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 score only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Qwen3-Embedding-0.6B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B52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LAILA (CP)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TAQEEM 2025 [6][7]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Essay + prompt (+ rubric)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Holistic (A) or 7 traits (B)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AraBERTv02; GPT-4o with no embedding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B52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None; 20 random examples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1,265 essays, 4 prompts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Sayed et al. [8]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Essay + prompt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traits + holistic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CAMeLBERT-mix sentence–prompt similarity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B52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TAQAE: 620 essays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 Mandhari et al. [9]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Essay + instructions; guide and examples at level 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 scores + justification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B52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QAES: 195 essays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ARWI [10]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Learner’s text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Errors with positions + CEFR level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CAMeLBERT-MSA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B52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QALB, ZAEBUC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Jin et al. [11]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Essay + prompt + rubric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Feedback, then score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B52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ASAP (English)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5943600"/>
            <a:ext cx="11091672" cy="402336"/>
          </a:xfrm>
          <a:prstGeom prst="roundRect">
            <a:avLst>
              <a:gd name="adj" fmla="val 18182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31520" y="5943600"/>
            <a:ext cx="10725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250" b="1" dirty="0">
                <a:solidFill>
                  <a:srgbClr val="B5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 nine studies uses retrieval → the project retrieves rubric level descriptors and evidence sentences from the essay itself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2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30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of Reference Studies (2/2)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728224"/>
              </p:ext>
            </p:extLst>
          </p:nvPr>
        </p:nvGraphicFramePr>
        <p:xfrm>
          <a:off x="548640" y="1234440"/>
          <a:ext cx="11091672" cy="4645152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48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Methodology &amp; models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result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Positives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LAILA [1]</a:t>
                      </a:r>
                      <a:r>
                        <a:rPr lang="ar-SA" altLang="en-US" sz="105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Features, AraBERT, MOOSE and LLMs; PS and CP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PS: 0.740; CP: 0.597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Largest public Arabic dataset, official splits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 weakest; no feedback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Qayyem / TRATES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[3][4]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 with 5 models; TRATES: one network per trait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QWK + time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0.653; REL 0.557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on unseen prompts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s per essay; no feedback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MAPLE [5]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Meta-learning with prototypical networks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0.619; REL 0.290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Generalises with a small model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 REL; no feedback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AESER [16]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text per level → similarity → CNN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QWK (REL)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 0.517 vs MOOSE 0.411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Targets REL directly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trait only; no explanation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TAQEEM 2025 [6][7]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 task; winner GPT-4o with rubric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QWK, RMSE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A: 0.751; B: 0.652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Tested on unseen prompts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425 training essays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Sayed et al. [8]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816 features with RF, XGB, NN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 0.294 vs Fanar 0.280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Public, interpretable features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dataset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 Mandhari et al. [9]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prompting levels, 8 LLMs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QWK + CI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Fanar 0.284 vs human ≈ 0.72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Compares 8 LLMs, incl. Arabic ones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 below human agreement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ARWI [10]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Two-step error detection + correction + CEFR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study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3.65/5 satisfaction; 85% recommend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Instant feedback with positions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trait scores, no accuracy figures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b="1" dirty="0">
                          <a:solidFill>
                            <a:srgbClr val="1B2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Jin et al. [11]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Qwen3.5-9B with RL (GRPO)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QWK + RFE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0.803 vs 0.805 for one human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 and feedback together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5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English only; costly training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5943600"/>
            <a:ext cx="11091672" cy="402336"/>
          </a:xfrm>
          <a:prstGeom prst="roundRect">
            <a:avLst>
              <a:gd name="adj" fmla="val 18182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31520" y="5943600"/>
            <a:ext cx="10725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250" b="1" dirty="0">
                <a:solidFill>
                  <a:srgbClr val="B5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Arabic study gives a per-trait comment backed by a quote and measures its correctness; Jin et al. do both, but in English and at high cost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2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30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Adopted Methodology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5396789" cy="365760"/>
          </a:xfrm>
          <a:prstGeom prst="roundRect">
            <a:avLst>
              <a:gd name="adj" fmla="val 20000"/>
            </a:avLst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280160"/>
            <a:ext cx="53967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Scoring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43523" y="1280160"/>
            <a:ext cx="5396789" cy="365760"/>
          </a:xfrm>
          <a:prstGeom prst="roundRect">
            <a:avLst>
              <a:gd name="adj" fmla="val 20000"/>
            </a:avLst>
          </a:prstGeom>
          <a:solidFill>
            <a:srgbClr val="B5202A"/>
          </a:solidFill>
          <a:ln w="12700">
            <a:solidFill>
              <a:srgbClr val="B520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43523" y="1280160"/>
            <a:ext cx="53967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Feedback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1600200" cy="1691640"/>
          </a:xfrm>
          <a:prstGeom prst="roundRect">
            <a:avLst>
              <a:gd name="adj" fmla="val 4571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2708" y="1892808"/>
            <a:ext cx="512064" cy="512064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603" y="2015703"/>
            <a:ext cx="266273" cy="26627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21792" y="2468880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35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621792" y="2816352"/>
            <a:ext cx="1453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essay + prompt text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188159" y="2514600"/>
            <a:ext cx="219456" cy="219456"/>
          </a:xfrm>
          <a:prstGeom prst="rightArrow">
            <a:avLst/>
          </a:prstGeom>
          <a:solidFill>
            <a:srgbClr val="8C99B8"/>
          </a:solidFill>
          <a:ln w="12700">
            <a:solidFill>
              <a:srgbClr val="8C99B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446934" y="1783080"/>
            <a:ext cx="1600200" cy="1691640"/>
          </a:xfrm>
          <a:prstGeom prst="roundRect">
            <a:avLst>
              <a:gd name="adj" fmla="val 4571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991002" y="1892808"/>
            <a:ext cx="512064" cy="512064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3898" y="2015703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520086" y="2468880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35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2520086" y="2816352"/>
            <a:ext cx="1453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linguistic + relevance features + CAMeLBERT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086454" y="2514600"/>
            <a:ext cx="219456" cy="219456"/>
          </a:xfrm>
          <a:prstGeom prst="rightArrow">
            <a:avLst/>
          </a:prstGeom>
          <a:solidFill>
            <a:srgbClr val="8C99B8"/>
          </a:solidFill>
          <a:ln w="12700">
            <a:solidFill>
              <a:srgbClr val="8C99B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345229" y="1783080"/>
            <a:ext cx="1600200" cy="1691640"/>
          </a:xfrm>
          <a:prstGeom prst="roundRect">
            <a:avLst>
              <a:gd name="adj" fmla="val 4571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889297" y="1892808"/>
            <a:ext cx="512064" cy="512064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2192" y="2015703"/>
            <a:ext cx="266273" cy="26627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418381" y="2468880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35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scorer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4418381" y="2816352"/>
            <a:ext cx="1453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traits + holistic + confidence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984748" y="2514600"/>
            <a:ext cx="219456" cy="219456"/>
          </a:xfrm>
          <a:prstGeom prst="rightArrow">
            <a:avLst/>
          </a:prstGeom>
          <a:solidFill>
            <a:srgbClr val="8C99B8"/>
          </a:solidFill>
          <a:ln w="12700">
            <a:solidFill>
              <a:srgbClr val="8C99B8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243523" y="1783080"/>
            <a:ext cx="1600200" cy="1691640"/>
          </a:xfrm>
          <a:prstGeom prst="roundRect">
            <a:avLst>
              <a:gd name="adj" fmla="val 4571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787591" y="1892808"/>
            <a:ext cx="512064" cy="512064"/>
          </a:xfrm>
          <a:prstGeom prst="ellipse">
            <a:avLst/>
          </a:prstGeom>
          <a:solidFill>
            <a:srgbClr val="B5202A"/>
          </a:solidFill>
          <a:ln w="12700">
            <a:solidFill>
              <a:srgbClr val="B5202A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0487" y="2015703"/>
            <a:ext cx="266273" cy="266273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316675" y="2468880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35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agent</a:t>
            </a:r>
            <a:endParaRPr lang="en-US" sz="1350" dirty="0"/>
          </a:p>
        </p:txBody>
      </p:sp>
      <p:sp>
        <p:nvSpPr>
          <p:cNvPr id="30" name="Text 23"/>
          <p:cNvSpPr txBox="1"/>
          <p:nvPr/>
        </p:nvSpPr>
        <p:spPr>
          <a:xfrm>
            <a:off x="6316675" y="2816352"/>
            <a:ext cx="1453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+ open LLM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7883042" y="2514600"/>
            <a:ext cx="219456" cy="219456"/>
          </a:xfrm>
          <a:prstGeom prst="rightArrow">
            <a:avLst/>
          </a:prstGeom>
          <a:solidFill>
            <a:srgbClr val="8C99B8"/>
          </a:solidFill>
          <a:ln w="12700">
            <a:solidFill>
              <a:srgbClr val="8C99B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141818" y="1783080"/>
            <a:ext cx="1600200" cy="1691640"/>
          </a:xfrm>
          <a:prstGeom prst="roundRect">
            <a:avLst>
              <a:gd name="adj" fmla="val 4571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685886" y="1892808"/>
            <a:ext cx="512064" cy="512064"/>
          </a:xfrm>
          <a:prstGeom prst="ellipse">
            <a:avLst/>
          </a:prstGeom>
          <a:solidFill>
            <a:srgbClr val="B5202A"/>
          </a:solidFill>
          <a:ln w="12700">
            <a:solidFill>
              <a:srgbClr val="B5202A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8781" y="2015703"/>
            <a:ext cx="266273" cy="266273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214970" y="2468880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35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</a:t>
            </a:r>
            <a:endParaRPr lang="en-US" sz="1350" dirty="0"/>
          </a:p>
        </p:txBody>
      </p:sp>
      <p:sp>
        <p:nvSpPr>
          <p:cNvPr id="36" name="Text 28"/>
          <p:cNvSpPr txBox="1"/>
          <p:nvPr/>
        </p:nvSpPr>
        <p:spPr>
          <a:xfrm>
            <a:off x="8214970" y="2816352"/>
            <a:ext cx="1453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literal quote, fixed score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9781337" y="2514600"/>
            <a:ext cx="219456" cy="219456"/>
          </a:xfrm>
          <a:prstGeom prst="rightArrow">
            <a:avLst/>
          </a:prstGeom>
          <a:solidFill>
            <a:srgbClr val="8C99B8"/>
          </a:solidFill>
          <a:ln w="12700">
            <a:solidFill>
              <a:srgbClr val="8C99B8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10040112" y="1783080"/>
            <a:ext cx="1600200" cy="1691640"/>
          </a:xfrm>
          <a:prstGeom prst="roundRect">
            <a:avLst>
              <a:gd name="adj" fmla="val 4571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10584180" y="1892808"/>
            <a:ext cx="512064" cy="512064"/>
          </a:xfrm>
          <a:prstGeom prst="ellipse">
            <a:avLst/>
          </a:prstGeom>
          <a:solidFill>
            <a:srgbClr val="B5202A"/>
          </a:solidFill>
          <a:ln w="12700">
            <a:solidFill>
              <a:srgbClr val="B5202A"/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07075" y="2015703"/>
            <a:ext cx="266273" cy="266273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0113264" y="2468880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35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report</a:t>
            </a:r>
            <a:endParaRPr lang="en-US" sz="1350" dirty="0"/>
          </a:p>
        </p:txBody>
      </p:sp>
      <p:sp>
        <p:nvSpPr>
          <p:cNvPr id="42" name="Text 33"/>
          <p:cNvSpPr txBox="1"/>
          <p:nvPr/>
        </p:nvSpPr>
        <p:spPr>
          <a:xfrm>
            <a:off x="10113264" y="2816352"/>
            <a:ext cx="1453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+ quote + reason + advice</a:t>
            </a:r>
            <a:endParaRPr lang="en-US" sz="1100" dirty="0"/>
          </a:p>
        </p:txBody>
      </p:sp>
      <p:sp>
        <p:nvSpPr>
          <p:cNvPr id="43" name="Shape 34"/>
          <p:cNvSpPr/>
          <p:nvPr/>
        </p:nvSpPr>
        <p:spPr>
          <a:xfrm>
            <a:off x="5035601" y="3529584"/>
            <a:ext cx="219456" cy="274320"/>
          </a:xfrm>
          <a:prstGeom prst="downArrow">
            <a:avLst/>
          </a:prstGeom>
          <a:solidFill>
            <a:srgbClr val="B5202A"/>
          </a:solidFill>
          <a:ln w="12700">
            <a:solidFill>
              <a:srgbClr val="B5202A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2401214" y="3840480"/>
            <a:ext cx="354421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B5202A"/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2510942" y="3840480"/>
            <a:ext cx="33247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200" b="1" dirty="0">
                <a:solidFill>
                  <a:srgbClr val="B5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confidence or REL = 0 → teacher review before the result is shown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6933895" y="3529584"/>
            <a:ext cx="219456" cy="274320"/>
          </a:xfrm>
          <a:prstGeom prst="upArrow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6243523" y="3840480"/>
            <a:ext cx="5396789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1B2A5E"/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6334963" y="384048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2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tools</a:t>
            </a:r>
            <a:endParaRPr lang="en-US" sz="1200" dirty="0"/>
          </a:p>
        </p:txBody>
      </p:sp>
      <p:sp>
        <p:nvSpPr>
          <p:cNvPr id="49" name="Shape 40"/>
          <p:cNvSpPr/>
          <p:nvPr/>
        </p:nvSpPr>
        <p:spPr>
          <a:xfrm>
            <a:off x="7386523" y="3931920"/>
            <a:ext cx="1326490" cy="457200"/>
          </a:xfrm>
          <a:prstGeom prst="roundRect">
            <a:avLst>
              <a:gd name="adj" fmla="val 16000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7432243" y="3931920"/>
            <a:ext cx="1235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05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the rubric level descriptor</a:t>
            </a:r>
            <a:endParaRPr lang="en-US" sz="1050" dirty="0"/>
          </a:p>
        </p:txBody>
      </p:sp>
      <p:sp>
        <p:nvSpPr>
          <p:cNvPr id="51" name="Shape 42"/>
          <p:cNvSpPr/>
          <p:nvPr/>
        </p:nvSpPr>
        <p:spPr>
          <a:xfrm>
            <a:off x="8804453" y="3931920"/>
            <a:ext cx="1326490" cy="457200"/>
          </a:xfrm>
          <a:prstGeom prst="roundRect">
            <a:avLst>
              <a:gd name="adj" fmla="val 16000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52" name="Text 43"/>
          <p:cNvSpPr txBox="1"/>
          <p:nvPr/>
        </p:nvSpPr>
        <p:spPr>
          <a:xfrm>
            <a:off x="8850173" y="3931920"/>
            <a:ext cx="1235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05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evidence from the essay</a:t>
            </a:r>
            <a:endParaRPr lang="en-US" sz="1050" dirty="0"/>
          </a:p>
        </p:txBody>
      </p:sp>
      <p:sp>
        <p:nvSpPr>
          <p:cNvPr id="53" name="Shape 44"/>
          <p:cNvSpPr/>
          <p:nvPr/>
        </p:nvSpPr>
        <p:spPr>
          <a:xfrm>
            <a:off x="10222382" y="3931920"/>
            <a:ext cx="1326490" cy="457200"/>
          </a:xfrm>
          <a:prstGeom prst="roundRect">
            <a:avLst>
              <a:gd name="adj" fmla="val 16000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54" name="Text 45"/>
          <p:cNvSpPr txBox="1"/>
          <p:nvPr/>
        </p:nvSpPr>
        <p:spPr>
          <a:xfrm>
            <a:off x="10268102" y="3931920"/>
            <a:ext cx="1235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05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detection (GED)</a:t>
            </a:r>
            <a:endParaRPr lang="en-US" sz="1050" dirty="0"/>
          </a:p>
        </p:txBody>
      </p:sp>
      <p:sp>
        <p:nvSpPr>
          <p:cNvPr id="55" name="Text 46"/>
          <p:cNvSpPr txBox="1"/>
          <p:nvPr/>
        </p:nvSpPr>
        <p:spPr>
          <a:xfrm>
            <a:off x="548640" y="475488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Principle: scores come from a model trained on LAILA; the LLM only explains them and never changes them.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evaluation: QWK per trait in PS (5 folds) and CP (8 folds), with bootstrap confidence intervals, against the baselines.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evaluation: 160 essays (20 per prompt) by two independent raters; agent + verifier vs direct generation.</a:t>
            </a:r>
            <a:endParaRPr lang="en-US" sz="16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2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30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Tools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26151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9808" y="1618488"/>
            <a:ext cx="530352" cy="530352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92" y="1745772"/>
            <a:ext cx="275783" cy="27578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49808" y="2258568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749808" y="260604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· matplotlib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295351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15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Load, analyse and explore the data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374136" y="1417320"/>
            <a:ext cx="26151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575304" y="1618488"/>
            <a:ext cx="530352" cy="530352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588" y="1745772"/>
            <a:ext cx="275783" cy="27578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575304" y="2258568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NLP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3575304" y="260604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CAMeL Tools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3575304" y="295351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15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Tokenization, morphology, feature extraction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199632" y="1417320"/>
            <a:ext cx="26151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0" y="1618488"/>
            <a:ext cx="530352" cy="530352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084" y="1745772"/>
            <a:ext cx="275783" cy="27578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400800" y="2258568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model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0" y="260604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CAMeLBERT · XGBoost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6400800" y="295351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15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Transformers, PyTorch, scikit-learn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9025128" y="1417320"/>
            <a:ext cx="26151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226296" y="1618488"/>
            <a:ext cx="530352" cy="530352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3580" y="1745772"/>
            <a:ext cx="275783" cy="275783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226296" y="2258568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detection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9226296" y="260604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CAMeL Lab GED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9226296" y="295351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15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main error categories with positions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548640" y="3794760"/>
            <a:ext cx="26151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49808" y="3995928"/>
            <a:ext cx="530352" cy="530352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092" y="4123212"/>
            <a:ext cx="275783" cy="27578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49808" y="4636008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agent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749808" y="498348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+ open LLM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749808" y="533095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15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Fanar, ALLaM or Qwen after a pilot comparison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3374136" y="3794760"/>
            <a:ext cx="26151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3575304" y="3995928"/>
            <a:ext cx="530352" cy="530352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2588" y="4123212"/>
            <a:ext cx="275783" cy="275783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3575304" y="4636008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</a:t>
            </a:r>
            <a:endParaRPr lang="en-US" sz="1500" dirty="0"/>
          </a:p>
        </p:txBody>
      </p:sp>
      <p:sp>
        <p:nvSpPr>
          <p:cNvPr id="38" name="Text 29"/>
          <p:cNvSpPr txBox="1"/>
          <p:nvPr/>
        </p:nvSpPr>
        <p:spPr>
          <a:xfrm>
            <a:off x="3575304" y="498348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Optuna · MLflow</a:t>
            </a:r>
            <a:endParaRPr lang="en-US" sz="1300" dirty="0"/>
          </a:p>
        </p:txBody>
      </p:sp>
      <p:sp>
        <p:nvSpPr>
          <p:cNvPr id="39" name="Text 30"/>
          <p:cNvSpPr txBox="1"/>
          <p:nvPr/>
        </p:nvSpPr>
        <p:spPr>
          <a:xfrm>
            <a:off x="3575304" y="533095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15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 and experiment logs</a:t>
            </a:r>
            <a:endParaRPr lang="en-US" sz="1150" dirty="0"/>
          </a:p>
        </p:txBody>
      </p:sp>
      <p:sp>
        <p:nvSpPr>
          <p:cNvPr id="40" name="Shape 31"/>
          <p:cNvSpPr/>
          <p:nvPr/>
        </p:nvSpPr>
        <p:spPr>
          <a:xfrm>
            <a:off x="6199632" y="3794760"/>
            <a:ext cx="26151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6400800" y="3995928"/>
            <a:ext cx="530352" cy="530352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8084" y="4123212"/>
            <a:ext cx="275783" cy="275783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6400800" y="4636008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44" name="Text 34"/>
          <p:cNvSpPr txBox="1"/>
          <p:nvPr/>
        </p:nvSpPr>
        <p:spPr>
          <a:xfrm>
            <a:off x="6400800" y="498348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45" name="Text 35"/>
          <p:cNvSpPr txBox="1"/>
          <p:nvPr/>
        </p:nvSpPr>
        <p:spPr>
          <a:xfrm>
            <a:off x="6400800" y="533095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15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QWK, MAE and bootstrap confidence intervals</a:t>
            </a:r>
            <a:endParaRPr lang="en-US" sz="1150" dirty="0"/>
          </a:p>
        </p:txBody>
      </p:sp>
      <p:sp>
        <p:nvSpPr>
          <p:cNvPr id="46" name="Shape 36"/>
          <p:cNvSpPr/>
          <p:nvPr/>
        </p:nvSpPr>
        <p:spPr>
          <a:xfrm>
            <a:off x="9025128" y="3794760"/>
            <a:ext cx="26151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9226296" y="3995928"/>
            <a:ext cx="530352" cy="530352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53580" y="4123212"/>
            <a:ext cx="275783" cy="275783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226296" y="4636008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500" dirty="0"/>
          </a:p>
        </p:txBody>
      </p:sp>
      <p:sp>
        <p:nvSpPr>
          <p:cNvPr id="50" name="Text 39"/>
          <p:cNvSpPr txBox="1"/>
          <p:nvPr/>
        </p:nvSpPr>
        <p:spPr>
          <a:xfrm>
            <a:off x="9226296" y="498348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Pro · GTX 1650</a:t>
            </a:r>
            <a:endParaRPr lang="en-US" sz="1300" dirty="0"/>
          </a:p>
        </p:txBody>
      </p:sp>
      <p:sp>
        <p:nvSpPr>
          <p:cNvPr id="51" name="Text 40"/>
          <p:cNvSpPr txBox="1"/>
          <p:nvPr/>
        </p:nvSpPr>
        <p:spPr>
          <a:xfrm>
            <a:off x="9226296" y="533095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15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Colab, test locally</a:t>
            </a:r>
            <a:endParaRPr lang="en-US" sz="115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2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3000" b="1" dirty="0">
                <a:solidFill>
                  <a:srgbClr val="1B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54406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alt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Bashendy et al. (2026). LAILA: A Large Trait-Based Dataset for Arabic Automated Essay Scoring. EACL.</a:t>
            </a:r>
            <a:endParaRPr lang="en-US" sz="12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alt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Massoud et al. (2026). Designing Annotation Guidelines for Trait-Based Arabic Automated Essay Scoring: A Systematic Methodology. LAW.</a:t>
            </a:r>
            <a:endParaRPr lang="en-US" sz="12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alt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Elbahnasawi et al. (2026). Qayyem: A Real-time Platform for Scoring Proficiency of Arabic Essays. ACL System Demonstrations.</a:t>
            </a:r>
            <a:endParaRPr lang="en-US" sz="12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alt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Eltanbouly et al. (2025). TRATES: Trait-Specific Rubric-Assisted Cross-Prompt Essay Scoring. Findings of ACL.</a:t>
            </a:r>
            <a:endParaRPr lang="en-US" sz="12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alt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Albatarni et al. (2026). MAPLE: A Meta-learning Framework for Cross-Prompt Essay Scoring. Findings of ACL.</a:t>
            </a:r>
            <a:endParaRPr lang="en-US" sz="12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alt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Bashendy et al. (2025). TAQEEM 2025: Overview of The First Shared Task for Arabic Quality Evaluation of Essays in Multi-dimensions. ArabicNLP.</a:t>
            </a:r>
            <a:endParaRPr lang="en-US" sz="12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alt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 Almarwani, Alharbi &amp; Aloufi (2025). Taibah at TAQEEM 2025: Leveraging GPT-4o for Arabic Essay Scoring. ArabicNLP.</a:t>
            </a:r>
            <a:endParaRPr lang="en-US" sz="12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alt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[8] Sayed et al. (2025). Feature Engineering is not Dead: A Step Towards State of the Art for Arabic Automated Essay Scoring. ArabicNLP.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199632" y="1280160"/>
            <a:ext cx="54406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alt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[9] Al Mandhari et al. (2026). Structured Prompting for Arabic Essay Proficiency: A Trait-Centric Evaluation Approach. LREC.</a:t>
            </a:r>
            <a:endParaRPr lang="en-US" sz="12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alt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[10] Chirkunov et al. (2025). ARWI: Arabic Write and Improve. In2Writing.</a:t>
            </a:r>
            <a:endParaRPr lang="en-US" sz="12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alt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[11] Jin et al. (2026). Beyond Score Prediction: LLM-Based Essay Scoring and Feedback Generation via Reinforcement Learning with Rubric Rewards. arXiv:2607.19219.</a:t>
            </a:r>
            <a:endParaRPr lang="en-US" sz="12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alt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[12] Williamson, Xi &amp; Breyer (2012). A Framework for Evaluation and Use of Automated Scoring. EM:IP 31(1).</a:t>
            </a:r>
            <a:endParaRPr lang="en-US" sz="12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alt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[13] Alhafni et al. (2023). Advancements in Arabic Grammatical Error Detection and Correction: An Empirical Investigation. EMNLP.</a:t>
            </a:r>
            <a:endParaRPr lang="en-US" sz="12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alt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[14] Inoue et al. (2021). The Interplay of Variant, Size, and Task Type in Arabic Pre-trained Language Models. WANLP.</a:t>
            </a:r>
            <a:endParaRPr lang="en-US" sz="12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alt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[15] Obeid et al. (2020). CAMeL Tools: An Open Source Python Toolkit for Arabic Natural Language Processing. LREC.</a:t>
            </a:r>
            <a:endParaRPr lang="en-US" sz="12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alt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[16] Sayed, Albatarni, Suwaileh &amp; Elsayed (2026). Align-Extract-Score: Graded Relevance of Arabic Essays. ArabicNLP.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2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135728" y="169164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tmp/claude-0/-home-claude/d9a40b3f-3357-5640-8175-ce21e2ef6209/scratchpad/pptx/s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888" y="1801368"/>
            <a:ext cx="1645920" cy="110642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31520" y="352044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448056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comments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U Seminar">
  <a:themeElements>
    <a:clrScheme name="SPU Seminar">
      <a:dk1>
        <a:srgbClr val="1F2430"/>
      </a:dk1>
      <a:lt1>
        <a:srgbClr val="FFFFFF"/>
      </a:lt1>
      <a:dk2>
        <a:srgbClr val="1B2A5E"/>
      </a:dk2>
      <a:lt2>
        <a:srgbClr val="EEF1F7"/>
      </a:lt2>
      <a:accent1>
        <a:srgbClr val="1B2A5E"/>
      </a:accent1>
      <a:accent2>
        <a:srgbClr val="B5202A"/>
      </a:accent2>
      <a:accent3>
        <a:srgbClr val="5B7DB1"/>
      </a:accent3>
      <a:accent4>
        <a:srgbClr val="8C99B8"/>
      </a:accent4>
      <a:accent5>
        <a:srgbClr val="CADCFC"/>
      </a:accent5>
      <a:accent6>
        <a:srgbClr val="B4BDD3"/>
      </a:accent6>
      <a:hlink>
        <a:srgbClr val="1B2A5E"/>
      </a:hlink>
      <a:folHlink>
        <a:srgbClr val="5A6270"/>
      </a:folHlink>
    </a:clrScheme>
    <a:fontScheme name="SPU Semina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2777</Words>
  <Application>Microsoft Office PowerPoint</Application>
  <PresentationFormat>شاشة عريضة</PresentationFormat>
  <Paragraphs>376</Paragraphs>
  <Slides>13</Slides>
  <Notes>13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1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13</vt:i4>
      </vt:variant>
    </vt:vector>
  </HeadingPairs>
  <TitlesOfParts>
    <vt:vector size="15" baseType="lpstr">
      <vt:lpstr>Arial</vt:lpstr>
      <vt:lpstr>SPU Seminar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1: Arabic Automated Essay Scoring</dc:title>
  <dc:subject>PptxGenJS Presentation</dc:subject>
  <dc:creator>Majd Samer Othman</dc:creator>
  <cp:lastModifiedBy>majd othman</cp:lastModifiedBy>
  <cp:revision>2</cp:revision>
  <dcterms:created xsi:type="dcterms:W3CDTF">2026-10-28T15:29:16Z</dcterms:created>
  <dcterms:modified xsi:type="dcterms:W3CDTF">2026-10-28T15:44:03Z</dcterms:modified>
</cp:coreProperties>
</file>